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08" y="713232"/>
            <a:ext cx="1874519" cy="310896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22376"/>
            <a:ext cx="187451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PRODUCT METRICS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6583680" cy="1508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3400" b="1">
                <a:solidFill>
                  <a:srgbClr val="FFFFFF"/>
                </a:solidFill>
                <a:latin typeface="Aptos"/>
              </a:defRPr>
            </a:pPr>
            <a:r>
              <a:t>Từ Core Action</a:t>
            </a:r>
            <a:br/>
            <a:r>
              <a:t>đến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246120"/>
            <a:ext cx="676656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800" b="0">
                <a:solidFill>
                  <a:srgbClr val="CDE1EB"/>
                </a:solidFill>
                <a:latin typeface="Aptos"/>
              </a:defRPr>
            </a:pPr>
            <a:r>
              <a:t>P-005 · Ứng dụng tra cứu tương tác thuốc</a:t>
            </a:r>
            <a:br/>
            <a:r>
              <a:t>và cảnh báo sử dụng thuốc an toàn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188720"/>
            <a:ext cx="3383280" cy="4297680"/>
          </a:xfrm>
          <a:prstGeom prst="roundRect">
            <a:avLst/>
          </a:prstGeom>
          <a:solidFill>
            <a:srgbClr val="183752"/>
          </a:solidFill>
          <a:ln w="12700">
            <a:solidFill>
              <a:srgbClr val="2F4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627632"/>
            <a:ext cx="25603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DCF4F0"/>
                </a:solidFill>
                <a:latin typeface="Aptos"/>
              </a:defRPr>
            </a:pPr>
            <a:r>
              <a:t>CORE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148840"/>
            <a:ext cx="2606040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2000" b="1">
                <a:solidFill>
                  <a:srgbClr val="FFFFFF"/>
                </a:solidFill>
                <a:latin typeface="Aptos"/>
              </a:defRPr>
            </a:pPr>
            <a:r>
              <a:t>Nhận biết thông tin tương tác và mức độ cảnh báo để trao đổi với bác sĩ hoặc dược sĩ.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343400"/>
            <a:ext cx="23774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CDE1EB"/>
                </a:solidFill>
                <a:latin typeface="Aptos"/>
              </a:defRPr>
            </a:pPr>
            <a:r>
              <a:t>Lê Thị Linh</a:t>
            </a:r>
            <a:br/>
            <a:r>
              <a:t>MHV: 2A202601441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36208"/>
            <a:ext cx="3657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06A56"/>
                </a:solidFill>
                <a:latin typeface="Aptos"/>
              </a:defRPr>
            </a:pPr>
            <a:r>
              <a:t>Không thay thế chỉ định y tế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00897B"/>
                </a:solidFill>
                <a:latin typeface="Aptos"/>
              </a:defRPr>
            </a:pPr>
            <a:r>
              <a:t>TỔNG QUAN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F233A"/>
                </a:solidFill>
                <a:latin typeface="Aptos"/>
              </a:defRPr>
            </a:pPr>
            <a:r>
              <a:t>Một chuỗi quyết định bắt buộc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9576"/>
            <a:ext cx="10698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F7080"/>
                </a:solidFill>
                <a:latin typeface="Aptos"/>
              </a:defRPr>
            </a:pPr>
            <a:r>
              <a:t>Metric đi từ use case lên; tracking là phép thử cuối cùng.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972800" cy="22860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6446520"/>
            <a:ext cx="13716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5F7080"/>
                </a:solidFill>
                <a:latin typeface="Aptos"/>
              </a:defRPr>
            </a:pPr>
            <a:r>
              <a:t>P-005  •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1737360" cy="2148840"/>
          </a:xfrm>
          <a:prstGeom prst="roundRect">
            <a:avLst/>
          </a:prstGeom>
          <a:solidFill>
            <a:srgbClr val="DCF4F0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487168"/>
            <a:ext cx="576072" cy="310896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96312"/>
            <a:ext cx="5760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44368"/>
            <a:ext cx="14630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F233A"/>
                </a:solidFill>
                <a:latin typeface="Aptos"/>
              </a:defRPr>
            </a:pPr>
            <a:r>
              <a:t>Core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93008"/>
            <a:ext cx="14630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F7080"/>
                </a:solidFill>
                <a:latin typeface="Aptos"/>
              </a:defRPr>
            </a:pPr>
            <a:r>
              <a:t>Value xảy ra khi nào?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23160" y="3355848"/>
            <a:ext cx="429768" cy="0"/>
          </a:xfrm>
          <a:prstGeom prst="line">
            <a:avLst/>
          </a:prstGeom>
          <a:ln w="2794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0" y="2286000"/>
            <a:ext cx="1737360" cy="2148840"/>
          </a:xfrm>
          <a:prstGeom prst="roundRect">
            <a:avLst/>
          </a:prstGeom>
          <a:solidFill>
            <a:srgbClr val="DCF4F0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63240" y="2487168"/>
            <a:ext cx="576072" cy="310896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2496312"/>
            <a:ext cx="5760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944368"/>
            <a:ext cx="14630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F233A"/>
                </a:solidFill>
                <a:latin typeface="Aptos"/>
              </a:defRPr>
            </a:pPr>
            <a:r>
              <a:t>Nature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493008"/>
            <a:ext cx="14630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F7080"/>
                </a:solidFill>
                <a:latin typeface="Aptos"/>
              </a:defRPr>
            </a:pPr>
            <a:r>
              <a:t>Nhu cầu quay lại vì đâu?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09160" y="3355848"/>
            <a:ext cx="429768" cy="0"/>
          </a:xfrm>
          <a:prstGeom prst="line">
            <a:avLst/>
          </a:prstGeom>
          <a:ln w="2794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12080" y="2286000"/>
            <a:ext cx="1737360" cy="21488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49240" y="2487168"/>
            <a:ext cx="576072" cy="310896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2496312"/>
            <a:ext cx="5760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03–04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944368"/>
            <a:ext cx="14630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F233A"/>
                </a:solidFill>
                <a:latin typeface="Aptos"/>
              </a:defRPr>
            </a:pPr>
            <a:r>
              <a:t>Metric + retention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493008"/>
            <a:ext cx="14630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F7080"/>
                </a:solidFill>
                <a:latin typeface="Aptos"/>
              </a:defRPr>
            </a:pPr>
            <a:r>
              <a:t>Đo value và lần quay lại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95160" y="3355848"/>
            <a:ext cx="429767" cy="0"/>
          </a:xfrm>
          <a:prstGeom prst="line">
            <a:avLst/>
          </a:prstGeom>
          <a:ln w="2794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98079" y="2286000"/>
            <a:ext cx="1737360" cy="21488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35240" y="2487168"/>
            <a:ext cx="576072" cy="310896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2496312"/>
            <a:ext cx="5760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944368"/>
            <a:ext cx="14630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F233A"/>
                </a:solidFill>
                <a:latin typeface="Aptos"/>
              </a:defRPr>
            </a:pPr>
            <a:r>
              <a:t>Product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3493008"/>
            <a:ext cx="14630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F7080"/>
                </a:solidFill>
                <a:latin typeface="Aptos"/>
              </a:defRPr>
            </a:pPr>
            <a:r>
              <a:t>Cơ chế tạo repeat value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81159" y="3355848"/>
            <a:ext cx="429769" cy="0"/>
          </a:xfrm>
          <a:prstGeom prst="line">
            <a:avLst/>
          </a:prstGeom>
          <a:ln w="2794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84080" y="2286000"/>
            <a:ext cx="1737360" cy="21488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21240" y="2487168"/>
            <a:ext cx="576072" cy="310896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21240" y="2496312"/>
            <a:ext cx="5760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2944368"/>
            <a:ext cx="14630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F233A"/>
                </a:solidFill>
                <a:latin typeface="Aptos"/>
              </a:defRPr>
            </a:pPr>
            <a:r>
              <a:t>Tracking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3493008"/>
            <a:ext cx="14630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F7080"/>
                </a:solidFill>
                <a:latin typeface="Aptos"/>
              </a:defRPr>
            </a:pPr>
            <a:r>
              <a:t>Event kiểm chứng giả thuyết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5166360"/>
            <a:ext cx="3749039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  <a:defRPr sz="1500" b="1">
                <a:solidFill>
                  <a:srgbClr val="00897B"/>
                </a:solidFill>
                <a:latin typeface="Aptos"/>
              </a:defRPr>
            </a:pPr>
            <a:r>
              <a:t>NATURE TRƯỚC · NURTURE SAU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00897B"/>
                </a:solidFill>
                <a:latin typeface="Aptos"/>
              </a:defRPr>
            </a:pPr>
            <a:r>
              <a:t>00 — PHẠM 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F233A"/>
                </a:solidFill>
                <a:latin typeface="Aptos"/>
              </a:defRPr>
            </a:pPr>
            <a:r>
              <a:t>Một persona · một core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9576"/>
            <a:ext cx="10698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F7080"/>
                </a:solidFill>
                <a:latin typeface="Aptos"/>
              </a:defRPr>
            </a:pPr>
            <a:r>
              <a:t>Use case: kiểm tra tương tác khi danh sách sử dụng thay đổi hoặc có sản phẩm mới.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972800" cy="22860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6446520"/>
            <a:ext cx="13716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5F7080"/>
                </a:solidFill>
                <a:latin typeface="Aptos"/>
              </a:defRPr>
            </a:pPr>
            <a:r>
              <a:t>P-005  •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01952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01952"/>
            <a:ext cx="73152" cy="1874519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2971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897B"/>
                </a:solidFill>
                <a:latin typeface="Aptos"/>
              </a:defRPr>
            </a:pPr>
            <a:r>
              <a:t>DỰ 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2971800" cy="11612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700" b="0">
                <a:solidFill>
                  <a:srgbClr val="23303E"/>
                </a:solidFill>
                <a:latin typeface="Aptos"/>
              </a:defRPr>
            </a:pPr>
            <a:r>
              <a:t>P-005</a:t>
            </a:r>
            <a:br/>
            <a:r>
              <a:t>Ứng dụng tra cứu tương tác thuốc và cảnh báo sử dụng thuốc an toàn.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01952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901952"/>
            <a:ext cx="73152" cy="18745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2971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4B400"/>
                </a:solidFill>
                <a:latin typeface="Aptos"/>
              </a:defRPr>
            </a:pPr>
            <a:r>
              <a:t>PERSONA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68880"/>
            <a:ext cx="2971800" cy="11612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23303E"/>
                </a:solidFill>
                <a:latin typeface="Aptos"/>
              </a:defRPr>
            </a:pPr>
            <a:r>
              <a:t>Người bệnh đang dùng đồng thời thuốc kê đơn, thuốc không kê đơn và thực phẩm chức năng; đôi khi tự mua thêm mà chưa hỏi chuyên gia.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01952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901952"/>
            <a:ext cx="73152" cy="1874519"/>
          </a:xfrm>
          <a:prstGeom prst="rect">
            <a:avLst/>
          </a:prstGeom>
          <a:solidFill>
            <a:srgbClr val="F06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057400"/>
            <a:ext cx="2971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06A56"/>
                </a:solidFill>
                <a:latin typeface="Aptos"/>
              </a:defRPr>
            </a:pPr>
            <a:r>
              <a:t>CORE JOB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468880"/>
            <a:ext cx="2971800" cy="11612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23303E"/>
                </a:solidFill>
                <a:latin typeface="Aptos"/>
              </a:defRPr>
            </a:pPr>
            <a:r>
              <a:t>“Khi muốn dùng thêm một thuốc hoặc thực phẩm chức năng, tôi cần biết sản phẩm đó có tương tác với những thứ mình đang dùng hay không.”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43400"/>
            <a:ext cx="10881360" cy="1143000"/>
          </a:xfrm>
          <a:prstGeom prst="roundRect">
            <a:avLst/>
          </a:prstGeom>
          <a:solidFill>
            <a:srgbClr val="0F233A"/>
          </a:solidFill>
          <a:ln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13258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DCF4F0"/>
                </a:solidFill>
                <a:latin typeface="Aptos"/>
              </a:defRPr>
            </a:pPr>
            <a:r>
              <a:t>RANH GIỚI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526280"/>
            <a:ext cx="89154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Không chỉ định ngừng/tiếp tục dùng thuốc · Không thay đổi liều · Không khuyến khích tự mua · Không thay thế bác sĩ/dược sĩ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00897B"/>
                </a:solidFill>
                <a:latin typeface="Aptos"/>
              </a:defRPr>
            </a:pPr>
            <a:r>
              <a:t>01 — CORE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F233A"/>
                </a:solidFill>
                <a:latin typeface="Aptos"/>
              </a:defRPr>
            </a:pPr>
            <a:r>
              <a:t>Value không xảy ra khi chỉ “hỏi AI”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9576"/>
            <a:ext cx="10698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F7080"/>
                </a:solidFill>
                <a:latin typeface="Aptos"/>
              </a:defRPr>
            </a:pPr>
            <a:r>
              <a:t>Core action được tính khi người dùng hoàn tất kiểm tra hợp lệ và thực sự mở kết quả.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972800" cy="22860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6446520"/>
            <a:ext cx="13716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5F7080"/>
                </a:solidFill>
                <a:latin typeface="Aptos"/>
              </a:defRPr>
            </a:pPr>
            <a:r>
              <a:t>P-005  •  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690372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5303520"/>
              </a:tblGrid>
              <a:tr h="66751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Khái niệm</a:t>
                      </a:r>
                    </a:p>
                  </a:txBody>
                  <a:tcPr marL="73152" marR="73152" marT="45720" marB="45720" anchor="ctr">
                    <a:solidFill>
                      <a:srgbClr val="1837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Định nghĩa trong P-005</a:t>
                      </a:r>
                    </a:p>
                  </a:txBody>
                  <a:tcPr marL="73152" marR="73152" marT="45720" marB="45720" anchor="ctr">
                    <a:solidFill>
                      <a:srgbClr val="183752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Core job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Biết sản phẩm mới có tương tác với danh sách đang sử dụng hay không.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Core action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Hoàn tất kiểm tra hợp lệ và mở xem kết quả.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Core value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Nhận biết trạng thái tương tác, mức cảnh báo, nguồn và giới hạn.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Core value event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interaction_result_viewed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63840" y="1828800"/>
            <a:ext cx="3611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0" y="1828800"/>
            <a:ext cx="73152" cy="1828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984248"/>
            <a:ext cx="3200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897B"/>
                </a:solidFill>
                <a:latin typeface="Aptos"/>
              </a:defRPr>
            </a:pPr>
            <a:r>
              <a:t>COMPLETION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395728"/>
            <a:ext cx="3200400" cy="11155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23303E"/>
                </a:solidFill>
                <a:latin typeface="Aptos"/>
              </a:defRPr>
            </a:pPr>
            <a:r>
              <a:t>Đầu vào hợp lệ; kết quả đã mở. Tính cả trạng thái phát hiện, không phát hiện trong dữ liệu hiện có, hoặc chưa đủ dữ liệu nếu giới hạn được hiển thị rõ.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913632"/>
            <a:ext cx="3611880" cy="1252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3913632"/>
            <a:ext cx="73152" cy="1252728"/>
          </a:xfrm>
          <a:prstGeom prst="rect">
            <a:avLst/>
          </a:prstGeom>
          <a:solidFill>
            <a:srgbClr val="F06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069080"/>
            <a:ext cx="3200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06A56"/>
                </a:solidFill>
                <a:latin typeface="Aptos"/>
              </a:defRPr>
            </a:pPr>
            <a:r>
              <a:t>KHÔNG TÍNH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480560"/>
            <a:ext cx="3200400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23303E"/>
                </a:solidFill>
                <a:latin typeface="Aptos"/>
              </a:defRPr>
            </a:pPr>
            <a:r>
              <a:t>Đầu vào không hợp lệ · Kết quả mới được tạo nhưng chưa mở · Reload/retry cùng một check.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5577840"/>
            <a:ext cx="2240280" cy="310896"/>
          </a:xfrm>
          <a:prstGeom prst="roundRect">
            <a:avLst/>
          </a:prstGeom>
          <a:solidFill>
            <a:srgbClr val="268A5B"/>
          </a:solidFill>
          <a:ln>
            <a:solidFill>
              <a:srgbClr val="26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5586983"/>
            <a:ext cx="22402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GATE 1 · ĐẠT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00897B"/>
                </a:solidFill>
                <a:latin typeface="Aptos"/>
              </a:defRPr>
            </a:pPr>
            <a:r>
              <a:t>02 — NATURE &amp; CADENCE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F233A"/>
                </a:solidFill>
                <a:latin typeface="Aptos"/>
              </a:defRPr>
            </a:pPr>
            <a:r>
              <a:t>Phản ứng theo sự kiện, không ép daily habit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9576"/>
            <a:ext cx="10698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F7080"/>
                </a:solidFill>
                <a:latin typeface="Aptos"/>
              </a:defRPr>
            </a:pPr>
            <a:r>
              <a:t>Nhu cầu xuất hiện khi thực tế sử dụng thuốc thay đổi.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972800" cy="22860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6446520"/>
            <a:ext cx="13716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5F7080"/>
                </a:solidFill>
                <a:latin typeface="Aptos"/>
              </a:defRPr>
            </a:pPr>
            <a:r>
              <a:t>P-005  •  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83080"/>
          <a:ext cx="690372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5394960"/>
              </a:tblGrid>
              <a:tr h="61656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Thành phần</a:t>
                      </a:r>
                    </a:p>
                  </a:txBody>
                  <a:tcPr marL="73152" marR="73152" marT="45720" marB="45720" anchor="ctr">
                    <a:solidFill>
                      <a:srgbClr val="1837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Kết luận</a:t>
                      </a:r>
                    </a:p>
                  </a:txBody>
                  <a:tcPr marL="73152" marR="73152" marT="45720" marB="45720" anchor="ctr">
                    <a:solidFill>
                      <a:srgbClr val="183752"/>
                    </a:solidFill>
                  </a:tcPr>
                </a:tc>
              </a:tr>
              <a:tr h="616566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Intent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Biết sản phẩm mới có tương tác với danh sách đang dùng hay không.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16566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Trigger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Đơn mới · đổi thuốc · cân nhắc OTC/thực phẩm chức năng.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</a:tr>
              <a:tr h="616566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Effort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Nhập/xác nhận danh sách; lần sau dùng lại trạng thái đã lưu.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16566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Value timing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Ngay sau khi mở kết quả hợp lệ.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</a:tr>
              <a:tr h="616566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Dependency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Nhận diện sản phẩm và độ đầy đủ/cập nhật của dữ liệu.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16572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Repeat condition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Một thay đổi hoặc nhu cầu kiểm tra mới xuất hiện.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63840" y="1783080"/>
            <a:ext cx="3611880" cy="4315968"/>
          </a:xfrm>
          <a:prstGeom prst="roundRect">
            <a:avLst/>
          </a:prstGeom>
          <a:solidFill>
            <a:srgbClr val="0F233A"/>
          </a:solidFill>
          <a:ln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75320" y="2084831"/>
            <a:ext cx="1572768" cy="310896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93975"/>
            <a:ext cx="15727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EVENT-RESPONSE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743200"/>
            <a:ext cx="25603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DCF4F0"/>
                </a:solidFill>
                <a:latin typeface="Aptos"/>
              </a:defRPr>
            </a:pPr>
            <a:r>
              <a:t>Nhịp đo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127248"/>
            <a:ext cx="265176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2200" b="1">
                <a:solidFill>
                  <a:srgbClr val="FFFFFF"/>
                </a:solidFill>
                <a:latin typeface="Aptos"/>
              </a:defRPr>
            </a:pPr>
            <a:r>
              <a:t>Theo từng lượt tra cứu tương tác hợp lệ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4315968"/>
            <a:ext cx="25603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DCF4F0"/>
                </a:solidFill>
                <a:latin typeface="Aptos"/>
              </a:defRPr>
            </a:pPr>
            <a:r>
              <a:t>Cấp đo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681728"/>
            <a:ext cx="25603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FFFFFF"/>
                </a:solidFill>
                <a:latin typeface="Aptos"/>
              </a:defRPr>
            </a:pPr>
            <a:r>
              <a:t>Lượt tra cứu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5513832"/>
            <a:ext cx="265176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06A56"/>
                </a:solidFill>
                <a:latin typeface="Aptos"/>
              </a:defRPr>
            </a:pPr>
            <a:r>
              <a:t>Không dùng D7/weekly mặc định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00897B"/>
                </a:solidFill>
                <a:latin typeface="Aptos"/>
              </a:defRPr>
            </a:pPr>
            <a:r>
              <a:t>03 — METRIC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F233A"/>
                </a:solidFill>
                <a:latin typeface="Aptos"/>
              </a:defRPr>
            </a:pPr>
            <a:r>
              <a:t>Activation là first value trong cùng phiên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9576"/>
            <a:ext cx="10698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F7080"/>
                </a:solidFill>
                <a:latin typeface="Aptos"/>
              </a:defRPr>
            </a:pPr>
            <a:r>
              <a:t>Active không đồng nghĩa với activated.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972800" cy="22860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6446520"/>
            <a:ext cx="13716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5F7080"/>
                </a:solidFill>
                <a:latin typeface="Aptos"/>
              </a:defRPr>
            </a:pPr>
            <a:r>
              <a:t>P-005  •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2461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1874519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84248"/>
            <a:ext cx="283463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897B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95728"/>
            <a:ext cx="2834639" cy="11612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23303E"/>
                </a:solidFill>
                <a:latin typeface="Aptos"/>
              </a:defRPr>
            </a:pPr>
            <a:r>
              <a:t>interaction_check_started</a:t>
            </a:r>
            <a:br/>
            <a:br/>
            <a:r>
              <a:t>Đầu vào hợp lệ, hệ thống tạo check_id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41648" y="2770632"/>
            <a:ext cx="365759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26280" y="1828800"/>
            <a:ext cx="32461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828800"/>
            <a:ext cx="73152" cy="1874519"/>
          </a:xfrm>
          <a:prstGeom prst="rect">
            <a:avLst/>
          </a:prstGeom>
          <a:solidFill>
            <a:srgbClr val="F06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984248"/>
            <a:ext cx="283463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06A56"/>
                </a:solidFill>
                <a:latin typeface="Aptos"/>
              </a:defRPr>
            </a:pPr>
            <a:r>
              <a:t>FIRST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395728"/>
            <a:ext cx="2834639" cy="11612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23303E"/>
                </a:solidFill>
                <a:latin typeface="Aptos"/>
              </a:defRPr>
            </a:pPr>
            <a:r>
              <a:t>interaction_result_viewed</a:t>
            </a:r>
            <a:br/>
            <a:br/>
            <a:r>
              <a:t>Lần đầu mở kết quả đủ điều kiện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36408" y="2770632"/>
            <a:ext cx="365759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21040" y="1828800"/>
            <a:ext cx="32461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828800"/>
            <a:ext cx="73152" cy="18745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84248"/>
            <a:ext cx="283463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4B400"/>
                </a:solidFill>
                <a:latin typeface="Aptos"/>
              </a:defRPr>
            </a:pPr>
            <a:r>
              <a:t>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395728"/>
            <a:ext cx="2834639" cy="11612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23303E"/>
                </a:solidFill>
                <a:latin typeface="Aptos"/>
              </a:defRPr>
            </a:pPr>
            <a:r>
              <a:t>Cùng phiên</a:t>
            </a:r>
            <a:br/>
            <a:br/>
            <a:r>
              <a:t>Tính từ lúc lượt kiểm tra bắt đầu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206240"/>
            <a:ext cx="73152" cy="10972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61688"/>
            <a:ext cx="47548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897B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773168"/>
            <a:ext cx="4754880" cy="3840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23303E"/>
                </a:solidFill>
                <a:latin typeface="Aptos"/>
              </a:defRPr>
            </a:pPr>
            <a:r>
              <a:t>Số lượt kết quả hợp lệ được mở trên mỗi sự kiện phát sinh nhu cầu.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206240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206240"/>
            <a:ext cx="73152" cy="1097280"/>
          </a:xfrm>
          <a:prstGeom prst="rect">
            <a:avLst/>
          </a:prstGeom>
          <a:solidFill>
            <a:srgbClr val="18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361688"/>
            <a:ext cx="47548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83752"/>
                </a:solidFill>
                <a:latin typeface="Aptos"/>
              </a:defRPr>
            </a:pPr>
            <a:r>
              <a:t>DEPTH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773168"/>
            <a:ext cx="4754880" cy="3840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23303E"/>
                </a:solidFill>
                <a:latin typeface="Aptos"/>
              </a:defRPr>
            </a:pPr>
            <a:r>
              <a:t>Tỷ lệ kết quả được mở phần nguồn thông tin và giới hạn sử dụng.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00897B"/>
                </a:solidFill>
                <a:latin typeface="Aptos"/>
              </a:defRPr>
            </a:pPr>
            <a:r>
              <a:t>03 — METRIC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F233A"/>
                </a:solidFill>
                <a:latin typeface="Aptos"/>
              </a:defRPr>
            </a:pPr>
            <a:r>
              <a:t>North Star đo một sự kiện nhận value đủ điều kiện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9576"/>
            <a:ext cx="10698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F7080"/>
                </a:solidFill>
                <a:latin typeface="Aptos"/>
              </a:defRPr>
            </a:pPr>
            <a:r>
              <a:t>Tỷ lệ tránh bị game bởi việc tra cứu lặp cùng một kết quả.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972800" cy="22860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6446520"/>
            <a:ext cx="13716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5F7080"/>
                </a:solidFill>
                <a:latin typeface="Aptos"/>
              </a:defRPr>
            </a:pPr>
            <a:r>
              <a:t>P-005  •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10512"/>
            <a:ext cx="10835640" cy="1143000"/>
          </a:xfrm>
          <a:prstGeom prst="roundRect">
            <a:avLst/>
          </a:prstGeom>
          <a:solidFill>
            <a:srgbClr val="0F233A"/>
          </a:solidFill>
          <a:ln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822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DCF4F0"/>
                </a:solidFill>
                <a:latin typeface="Aptos"/>
              </a:defRPr>
            </a:pPr>
            <a:r>
              <a:t>NSM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75104"/>
            <a:ext cx="900684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  <a:defRPr sz="2000" b="1">
                <a:solidFill>
                  <a:srgbClr val="FFFFFF"/>
                </a:solidFill>
                <a:latin typeface="Aptos"/>
              </a:defRPr>
            </a:pPr>
            <a:r>
              <a:t>Tỷ lệ sự kiện phát sinh nhu cầu có ≥1 kết quả tương tác đủ điều kiện được mở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310128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310128"/>
            <a:ext cx="73152" cy="13258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65576"/>
            <a:ext cx="292607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897B"/>
                </a:solidFill>
                <a:latin typeface="Aptos"/>
              </a:defRPr>
            </a:pPr>
            <a:r>
              <a:t>UNIT OF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77056"/>
            <a:ext cx="2926079" cy="6126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23303E"/>
                </a:solidFill>
                <a:latin typeface="Aptos"/>
              </a:defRPr>
            </a:pPr>
            <a:r>
              <a:t>Một sự kiện nhu cầu có kết quả được mở.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3310128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6552" y="3310128"/>
            <a:ext cx="73152" cy="1325880"/>
          </a:xfrm>
          <a:prstGeom prst="rect">
            <a:avLst/>
          </a:prstGeom>
          <a:solidFill>
            <a:srgbClr val="F06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3465576"/>
            <a:ext cx="292607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06A56"/>
                </a:solidFill>
                <a:latin typeface="Aptos"/>
              </a:defRPr>
            </a:pPr>
            <a:r>
              <a:t>QUALITY 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877056"/>
            <a:ext cx="2926079" cy="6126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23303E"/>
                </a:solidFill>
                <a:latin typeface="Aptos"/>
              </a:defRPr>
            </a:pPr>
            <a:r>
              <a:t>Đầu vào hợp lệ · có trạng thái · nguồn · giới hạn.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310128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47304" y="3310128"/>
            <a:ext cx="73152" cy="132588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3465576"/>
            <a:ext cx="292607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4B400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3877056"/>
            <a:ext cx="2926079" cy="6126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23303E"/>
                </a:solidFill>
                <a:latin typeface="Aptos"/>
              </a:defRPr>
            </a:pPr>
            <a:r>
              <a:t>Ít nhất một kết quả đủ điều kiện / sự kiện.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10912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5010912"/>
            <a:ext cx="73152" cy="914400"/>
          </a:xfrm>
          <a:prstGeom prst="rect">
            <a:avLst/>
          </a:prstGeom>
          <a:solidFill>
            <a:srgbClr val="C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48463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C43737"/>
                </a:solidFill>
                <a:latin typeface="Aptos"/>
              </a:defRPr>
            </a:pPr>
            <a:r>
              <a:t>COUNTER-METRIC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4846320" cy="2011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23303E"/>
                </a:solidFill>
                <a:latin typeface="Aptos"/>
              </a:defRPr>
            </a:pPr>
            <a:r>
              <a:t>Tỷ lệ lỗi nghiêm trọng được phát hiện qua kiểm định chuyên môn.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5010912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5010912"/>
            <a:ext cx="73152" cy="9144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166360"/>
            <a:ext cx="48463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897B"/>
                </a:solidFill>
                <a:latin typeface="Aptos"/>
              </a:defRPr>
            </a:pPr>
            <a:r>
              <a:t>LEADING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577840"/>
            <a:ext cx="4846320" cy="2011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23303E"/>
                </a:solidFill>
                <a:latin typeface="Aptos"/>
              </a:defRPr>
            </a:pPr>
            <a:r>
              <a:t>Đầu vào hợp lệ · check hoàn tất · người dùng xem nguồn/giới hạn.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00897B"/>
                </a:solidFill>
                <a:latin typeface="Aptos"/>
              </a:defRPr>
            </a:pPr>
            <a:r>
              <a:t>04 — RETENTION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F233A"/>
                </a:solidFill>
                <a:latin typeface="Aptos"/>
              </a:defRPr>
            </a:pPr>
            <a:r>
              <a:t>Retention theo cơ hội, không mặc định D7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9576"/>
            <a:ext cx="10698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F7080"/>
                </a:solidFill>
                <a:latin typeface="Aptos"/>
              </a:defRPr>
            </a:pPr>
            <a:r>
              <a:t>Không có nhu cầu mới ≠ churn.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972800" cy="22860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6446520"/>
            <a:ext cx="13716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5F7080"/>
                </a:solidFill>
                <a:latin typeface="Aptos"/>
              </a:defRPr>
            </a:pPr>
            <a:r>
              <a:t>P-005  •  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83080"/>
          <a:ext cx="7543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6035040"/>
              </a:tblGrid>
              <a:tr h="64661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Thành phần</a:t>
                      </a:r>
                    </a:p>
                  </a:txBody>
                  <a:tcPr marL="73152" marR="73152" marT="45720" marB="45720" anchor="ctr">
                    <a:solidFill>
                      <a:srgbClr val="1837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Định nghĩa</a:t>
                      </a:r>
                    </a:p>
                  </a:txBody>
                  <a:tcPr marL="73152" marR="73152" marT="45720" marB="45720" anchor="ctr">
                    <a:solidFill>
                      <a:srgbClr val="183752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Unit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Người bệnh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Cohort entry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Lần đầu có interaction_result_viewed hợp lệ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Return event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interaction_result_viewed khác trong nhu cầu mới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Window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Cơ hội tiếp theo: thuốc mới, đổi danh sách hoặc cân nhắc sản phẩm khác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Threshold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≥ 1 kết quả đủ điều kiện được mở trong cơ hội mới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Segment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Người bệnh dùng đồng thời nhiều thuốc/TP chức năng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85632" y="1783080"/>
            <a:ext cx="2971800" cy="4526280"/>
          </a:xfrm>
          <a:prstGeom prst="roundRect">
            <a:avLst/>
          </a:prstGeom>
          <a:solidFill>
            <a:srgbClr val="DCF4F0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2103120"/>
            <a:ext cx="21945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0897B"/>
                </a:solidFill>
                <a:latin typeface="Aptos"/>
              </a:defRPr>
            </a:pPr>
            <a:r>
              <a:t>CÁCH ĐỌC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615184"/>
            <a:ext cx="2148840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0F233A"/>
                </a:solidFill>
                <a:latin typeface="Aptos"/>
              </a:defRPr>
            </a:pPr>
            <a:r>
              <a:t>Trong số người đã nhận first value và có ghi nhận cơ hội kiểm tra mới…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977639"/>
            <a:ext cx="214884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700" b="1">
                <a:solidFill>
                  <a:srgbClr val="23303E"/>
                </a:solidFill>
                <a:latin typeface="Aptos"/>
              </a:defRPr>
            </a:pPr>
            <a:r>
              <a:t>Bao nhiêu người mở ít nhất một kết quả đủ điều kiện?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5413248"/>
            <a:ext cx="21488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06A56"/>
                </a:solidFill>
                <a:latin typeface="Aptos"/>
              </a:defRPr>
            </a:pPr>
            <a:r>
              <a:t>Giới hạn: cơ hội ngoài sản phẩm có thể không quan sát được.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00897B"/>
                </a:solidFill>
                <a:latin typeface="Aptos"/>
              </a:defRPr>
            </a:pPr>
            <a:r>
              <a:t>05 — PRODUCT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F233A"/>
                </a:solidFill>
                <a:latin typeface="Aptos"/>
              </a:defRPr>
            </a:pPr>
            <a:r>
              <a:t>Saved state làm lần kiểm tra tiếp theo nhẹ hơn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9576"/>
            <a:ext cx="10698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F7080"/>
                </a:solidFill>
                <a:latin typeface="Aptos"/>
              </a:defRPr>
            </a:pPr>
            <a:r>
              <a:t>Loop chính: event-response · Reason to return không phụ thuộc notification.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972800" cy="22860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6446520"/>
            <a:ext cx="13716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5F7080"/>
                </a:solidFill>
                <a:latin typeface="Aptos"/>
              </a:defRPr>
            </a:pPr>
            <a:r>
              <a:t>P-005  •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2487168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6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121408"/>
            <a:ext cx="411480" cy="310896"/>
          </a:xfrm>
          <a:prstGeom prst="roundRect">
            <a:avLst/>
          </a:prstGeom>
          <a:solidFill>
            <a:srgbClr val="F06A56"/>
          </a:solidFill>
          <a:ln>
            <a:solidFill>
              <a:srgbClr val="F06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30551"/>
            <a:ext cx="411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093976"/>
            <a:ext cx="162763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06A56"/>
                </a:solidFill>
                <a:latin typeface="Aptos"/>
              </a:defRPr>
            </a:pPr>
            <a:r>
              <a:t>Natural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24328"/>
            <a:ext cx="21488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23303E"/>
                </a:solidFill>
                <a:latin typeface="Aptos"/>
              </a:defRPr>
            </a:pPr>
            <a:r>
              <a:t>Thuốc mới / đổi danh sách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63240" y="2706624"/>
            <a:ext cx="274320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10712" y="1965960"/>
            <a:ext cx="2487168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47872" y="2121408"/>
            <a:ext cx="411480" cy="310896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2130551"/>
            <a:ext cx="411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0791" y="2093976"/>
            <a:ext cx="162763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897B"/>
                </a:solidFill>
                <a:latin typeface="Aptos"/>
              </a:defRPr>
            </a:pPr>
            <a:r>
              <a:t>Core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2624328"/>
            <a:ext cx="21488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23303E"/>
                </a:solidFill>
                <a:latin typeface="Aptos"/>
              </a:defRPr>
            </a:pPr>
            <a:r>
              <a:t>Kiểm tra hợp lệ + mở kết quả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25312" y="2706624"/>
            <a:ext cx="274319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72783" y="1965960"/>
            <a:ext cx="2487168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9944" y="2121408"/>
            <a:ext cx="411480" cy="310896"/>
          </a:xfrm>
          <a:prstGeom prst="roundRect">
            <a:avLst/>
          </a:prstGeom>
          <a:solidFill>
            <a:srgbClr val="183752"/>
          </a:solidFill>
          <a:ln>
            <a:solidFill>
              <a:srgbClr val="18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2130551"/>
            <a:ext cx="411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2093976"/>
            <a:ext cx="162763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83752"/>
                </a:solidFill>
                <a:latin typeface="Aptos"/>
              </a:defRPr>
            </a:pPr>
            <a:r>
              <a:t>Immediate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5" y="2624328"/>
            <a:ext cx="21488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23303E"/>
                </a:solidFill>
                <a:latin typeface="Aptos"/>
              </a:defRPr>
            </a:pPr>
            <a:r>
              <a:t>Nhận biết trạng thái, nguồn, giới hạn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87384" y="2706624"/>
            <a:ext cx="274320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34856" y="1965960"/>
            <a:ext cx="2487168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72016" y="2121408"/>
            <a:ext cx="411480" cy="310896"/>
          </a:xfrm>
          <a:prstGeom prst="roundRect">
            <a:avLst/>
          </a:prstGeom>
          <a:solidFill>
            <a:srgbClr val="F4B400"/>
          </a:solidFill>
          <a:ln>
            <a:solidFill>
              <a:srgbClr val="F4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72016" y="2130551"/>
            <a:ext cx="411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74936" y="2093976"/>
            <a:ext cx="162763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4B400"/>
                </a:solidFill>
                <a:latin typeface="Aptos"/>
              </a:defRPr>
            </a:pPr>
            <a:r>
              <a:t>Saved 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2624328"/>
            <a:ext cx="21488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23303E"/>
                </a:solidFill>
                <a:latin typeface="Aptos"/>
              </a:defRPr>
            </a:pPr>
            <a:r>
              <a:t>Danh sách + lịch sử (có đồng ý)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664208" y="3657600"/>
            <a:ext cx="8897112" cy="0"/>
          </a:xfrm>
          <a:prstGeom prst="line">
            <a:avLst/>
          </a:prstGeom>
          <a:ln w="2794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920240" y="3822191"/>
            <a:ext cx="83210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0897B"/>
                </a:solidFill>
                <a:latin typeface="Aptos"/>
              </a:defRPr>
            </a:pPr>
            <a:r>
              <a:t>NEXT NATURAL TRIGGER → cập nhật danh sách → repeat core action → repeat value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709160"/>
            <a:ext cx="10835640" cy="10058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983480"/>
            <a:ext cx="10058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06A56"/>
                </a:solidFill>
                <a:latin typeface="Aptos"/>
              </a:defRPr>
            </a:pPr>
            <a:r>
              <a:t>HYPOTHESIS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4855464"/>
            <a:ext cx="896112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F233A"/>
                </a:solidFill>
                <a:latin typeface="Aptos"/>
              </a:defRPr>
            </a:pPr>
            <a:r>
              <a:t>NSM sẽ tăng trong 3 cơ hội tiếp theo vì danh sách đã lưu giúp giảm nhập lại và hoàn tất lượt kiểm tra mới nhanh hơn.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00897B"/>
                </a:solidFill>
                <a:latin typeface="Aptos"/>
              </a:defRPr>
            </a:pPr>
            <a:r>
              <a:t>06 — TRACKING NHANH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F233A"/>
                </a:solidFill>
                <a:latin typeface="Aptos"/>
              </a:defRPr>
            </a:pPr>
            <a:r>
              <a:t>7 events · mỗi event map về một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9576"/>
            <a:ext cx="10698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F7080"/>
                </a:solidFill>
                <a:latin typeface="Aptos"/>
              </a:defRPr>
            </a:pPr>
            <a:r>
              <a:t>Tên event mô tả điều đã xảy ra, không mô tả ý định.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972800" cy="22860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6446520"/>
            <a:ext cx="13716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5F7080"/>
                </a:solidFill>
                <a:latin typeface="Aptos"/>
              </a:defRPr>
            </a:pPr>
            <a:r>
              <a:t>P-005  •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55648"/>
          <a:ext cx="1101852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4709160"/>
                <a:gridCol w="3429000"/>
              </a:tblGrid>
              <a:tr h="61150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Event</a:t>
                      </a:r>
                    </a:p>
                  </a:txBody>
                  <a:tcPr marL="73152" marR="73152" marT="45720" marB="45720" anchor="ctr">
                    <a:solidFill>
                      <a:srgbClr val="1837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Ghi nhận khi</a:t>
                      </a:r>
                    </a:p>
                  </a:txBody>
                  <a:tcPr marL="73152" marR="73152" marT="45720" marB="45720" anchor="ctr">
                    <a:solidFill>
                      <a:srgbClr val="1837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73152" marR="73152" marT="45720" marB="45720" anchor="ctr">
                    <a:solidFill>
                      <a:srgbClr val="183752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medication_list_updated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Danh sách lưu đã thay đổi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Cơ hội retention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medication_list_confirmed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Người dùng xác nhận danh sách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Leading: input hợp lệ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interaction_check_started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Input hợp lệ + tạo check_id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Activation start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interaction_check_completed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Check vào terminal state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Completion + coverage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interaction_result_viewed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Kết quả chính hiển thị lần đầu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Activation · NSM · retention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interaction_result_details_viewed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Nguồn + giới hạn được mở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Depth</a:t>
                      </a:r>
                    </a:p>
                  </a:txBody>
                  <a:tcPr marL="73152" marR="73152" marT="45720" marB="45720" anchor="ctr">
                    <a:solidFill>
                      <a:srgbClr val="F4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interaction_result_audited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Audit chuyên môn hoàn tất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3303E"/>
                          </a:solidFill>
                          <a:latin typeface="Aptos"/>
                        </a:defRPr>
                      </a:pPr>
                      <a:r>
                        <a:t>Counter-metric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00897B"/>
                </a:solidFill>
                <a:latin typeface="Aptos"/>
              </a:defRPr>
            </a:pPr>
            <a:r>
              <a:t>06 — TRACKING NHANH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F233A"/>
                </a:solidFill>
                <a:latin typeface="Aptos"/>
              </a:defRPr>
            </a:pPr>
            <a:r>
              <a:t>Acceptance criteria khóa hai bẫy lớn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9576"/>
            <a:ext cx="10698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F7080"/>
                </a:solidFill>
                <a:latin typeface="Aptos"/>
              </a:defRPr>
            </a:pPr>
            <a:r>
              <a:t>Không bắn sớm · Không ghi trùng.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972800" cy="22860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6446520"/>
            <a:ext cx="13716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5F7080"/>
                </a:solidFill>
                <a:latin typeface="Aptos"/>
              </a:defRPr>
            </a:pPr>
            <a:r>
              <a:t>P-005  •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49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73152" cy="1508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493775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0897B"/>
                </a:solidFill>
                <a:latin typeface="Aptos"/>
              </a:defRPr>
            </a:pPr>
            <a:r>
              <a:t>01 · CHỈ BẮN KHI VALUE ĐÃ XẢY 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95728"/>
            <a:ext cx="4937759" cy="79552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23303E"/>
                </a:solidFill>
                <a:latin typeface="Aptos"/>
              </a:defRPr>
            </a:pPr>
            <a:r>
              <a:t>interaction_result_viewed chỉ ghi khi nội dung chính hiển thị thành công. Bấm nút, loading hoặc xử lý lỗi không được tạo event.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49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73152" cy="1508760"/>
          </a:xfrm>
          <a:prstGeom prst="rect">
            <a:avLst/>
          </a:prstGeom>
          <a:solidFill>
            <a:srgbClr val="F06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84248"/>
            <a:ext cx="493775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06A56"/>
                </a:solidFill>
                <a:latin typeface="Aptos"/>
              </a:defRPr>
            </a:pPr>
            <a:r>
              <a:t>02 · IDEMPOTENT THEO CHECK_ID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95728"/>
            <a:ext cx="4937759" cy="79552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23303E"/>
                </a:solidFill>
                <a:latin typeface="Aptos"/>
              </a:defRPr>
            </a:pPr>
            <a:r>
              <a:t>Reload, retry hoặc mở lại lịch sử không tạo thêm event dùng để tính activation, NSM hoặc retention cho cùng check_id.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03320"/>
            <a:ext cx="73152" cy="1417320"/>
          </a:xfrm>
          <a:prstGeom prst="rect">
            <a:avLst/>
          </a:prstGeom>
          <a:solidFill>
            <a:srgbClr val="18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83752"/>
                </a:solidFill>
                <a:latin typeface="Aptos"/>
              </a:defRPr>
            </a:pPr>
            <a:r>
              <a:t>03 · TERMINAL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70248"/>
            <a:ext cx="3017520" cy="7040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23303E"/>
                </a:solidFill>
                <a:latin typeface="Aptos"/>
              </a:defRPr>
            </a:pPr>
            <a:r>
              <a:t>Mỗi check_id chỉ có một interaction_check_completed cho trạng thái kết thúc đầu tiên.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70332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3703320"/>
            <a:ext cx="73152" cy="14173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3858768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4B400"/>
                </a:solidFill>
                <a:latin typeface="Aptos"/>
              </a:defRPr>
            </a:pPr>
            <a:r>
              <a:t>04 · STATE DIFF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4270248"/>
            <a:ext cx="3017520" cy="7040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23303E"/>
                </a:solidFill>
                <a:latin typeface="Aptos"/>
              </a:defRPr>
            </a:pPr>
            <a:r>
              <a:t>medication_list_updated chỉ ghi khi dữ liệu lưu khác trạng thái trước.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370332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19872" y="3703320"/>
            <a:ext cx="73152" cy="1417320"/>
          </a:xfrm>
          <a:prstGeom prst="rect">
            <a:avLst/>
          </a:prstGeom>
          <a:solidFill>
            <a:srgbClr val="C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3858768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C43737"/>
                </a:solidFill>
                <a:latin typeface="Aptos"/>
              </a:defRPr>
            </a:pPr>
            <a:r>
              <a:t>05 · EXPERT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270248"/>
            <a:ext cx="3017520" cy="7040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23303E"/>
                </a:solidFill>
                <a:latin typeface="Aptos"/>
              </a:defRPr>
            </a:pPr>
            <a:r>
              <a:t>Audit chỉ ghi sau đánh giá có thẩm quyền, đúng check_id và phiên bản.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92040" y="5596128"/>
            <a:ext cx="2423160" cy="310896"/>
          </a:xfrm>
          <a:prstGeom prst="roundRect">
            <a:avLst/>
          </a:prstGeom>
          <a:solidFill>
            <a:srgbClr val="268A5B"/>
          </a:solidFill>
          <a:ln>
            <a:solidFill>
              <a:srgbClr val="26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5605272"/>
            <a:ext cx="24231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GATE 4 · ĐẠT 6/6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00897B"/>
                </a:solidFill>
                <a:latin typeface="Aptos"/>
              </a:defRPr>
            </a:pPr>
            <a:r>
              <a:t>07 —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F233A"/>
                </a:solidFill>
                <a:latin typeface="Aptos"/>
              </a:defRPr>
            </a:pPr>
            <a:r>
              <a:t>Những điểm đã làm rõ sau phản biện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9576"/>
            <a:ext cx="10698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F7080"/>
                </a:solidFill>
                <a:latin typeface="Aptos"/>
              </a:defRPr>
            </a:pPr>
            <a:r>
              <a:t>Core action và cadence giữ nguyên; định nghĩa được siết để đo nhất quán hơn.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972800" cy="22860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6446520"/>
            <a:ext cx="13716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5F7080"/>
                </a:solidFill>
                <a:latin typeface="Aptos"/>
              </a:defRPr>
            </a:pPr>
            <a:r>
              <a:t>P-005  •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502920" cy="310896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9384"/>
            <a:ext cx="5029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856231"/>
            <a:ext cx="2103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F233A"/>
                </a:solidFill>
                <a:latin typeface="Aptos"/>
              </a:defRPr>
            </a:pPr>
            <a:r>
              <a:t>Ranh giới y tế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810512"/>
            <a:ext cx="7498079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23303E"/>
                </a:solidFill>
                <a:latin typeface="Aptos"/>
              </a:defRPr>
            </a:pPr>
            <a:r>
              <a:t>Không chỉ định dùng/ngừng, đổi liều hoặc tự mua thuốc.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2688" y="2240280"/>
            <a:ext cx="0" cy="713232"/>
          </a:xfrm>
          <a:prstGeom prst="line">
            <a:avLst/>
          </a:prstGeom>
          <a:ln w="25400">
            <a:solidFill>
              <a:srgbClr val="D7E1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" y="2999232"/>
            <a:ext cx="502920" cy="310896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08375"/>
            <a:ext cx="5029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935224"/>
            <a:ext cx="2103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F233A"/>
                </a:solidFill>
                <a:latin typeface="Aptos"/>
              </a:defRPr>
            </a:pPr>
            <a:r>
              <a:t>Completion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889503"/>
            <a:ext cx="7498079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23303E"/>
                </a:solidFill>
                <a:latin typeface="Aptos"/>
              </a:defRPr>
            </a:pPr>
            <a:r>
              <a:t>Tính “chưa đủ dữ liệu” khi giới hạn được trình bày rõ.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2688" y="3319272"/>
            <a:ext cx="0" cy="713232"/>
          </a:xfrm>
          <a:prstGeom prst="line">
            <a:avLst/>
          </a:prstGeom>
          <a:ln w="25400">
            <a:solidFill>
              <a:srgbClr val="D7E1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5800" y="4078224"/>
            <a:ext cx="502920" cy="310896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87368"/>
            <a:ext cx="5029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014215"/>
            <a:ext cx="2103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F233A"/>
                </a:solidFill>
                <a:latin typeface="Aptos"/>
              </a:defRPr>
            </a:pPr>
            <a:r>
              <a:t>North Star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968496"/>
            <a:ext cx="7498079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23303E"/>
                </a:solidFill>
                <a:latin typeface="Aptos"/>
              </a:defRPr>
            </a:pPr>
            <a:r>
              <a:t>Thống nhất từ số lượt sang tỷ lệ sự kiện có qualified value.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398264"/>
            <a:ext cx="0" cy="713232"/>
          </a:xfrm>
          <a:prstGeom prst="line">
            <a:avLst/>
          </a:prstGeom>
          <a:ln w="25400">
            <a:solidFill>
              <a:srgbClr val="D7E1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5800" y="5157216"/>
            <a:ext cx="502920" cy="310896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66360"/>
            <a:ext cx="5029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5093208"/>
            <a:ext cx="2103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F233A"/>
                </a:solidFill>
                <a:latin typeface="Aptos"/>
              </a:defRPr>
            </a:pPr>
            <a:r>
              <a:t>Retention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5047488"/>
            <a:ext cx="7498079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23303E"/>
                </a:solidFill>
                <a:latin typeface="Aptos"/>
              </a:defRPr>
            </a:pPr>
            <a:r>
              <a:t>Theo opportunity; không mặc định người vắng D7/D30 là churn.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6053328"/>
            <a:ext cx="10835640" cy="347472"/>
          </a:xfrm>
          <a:prstGeom prst="roundRect">
            <a:avLst/>
          </a:prstGeom>
          <a:solidFill>
            <a:srgbClr val="0F233A"/>
          </a:solidFill>
          <a:ln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6089904"/>
            <a:ext cx="101498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Kết quả: metric nối được từ core value → cadence → retention → loop → tracking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685800"/>
            <a:ext cx="1234440" cy="310896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94944"/>
            <a:ext cx="12344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68096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3100" b="1">
                <a:solidFill>
                  <a:srgbClr val="FFFFFF"/>
                </a:solidFill>
                <a:latin typeface="Aptos"/>
              </a:defRPr>
            </a:pPr>
            <a:r>
              <a:t>Đo value đã xảy ra,</a:t>
            </a:r>
            <a:br/>
            <a:r>
              <a:t>không đo việc app đã được mở.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731520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800" b="0">
                <a:solidFill>
                  <a:srgbClr val="CDE1EB"/>
                </a:solidFill>
                <a:latin typeface="Aptos"/>
              </a:defRPr>
            </a:pPr>
            <a:r>
              <a:t>P-005 ưu tiên độ an toàn: kết quả có nguồn và giới hạn, metric tăng nhưng tỷ lệ lỗi nghiêm trọng không được xấu đi.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353312"/>
            <a:ext cx="2880360" cy="4315968"/>
          </a:xfrm>
          <a:prstGeom prst="roundRect">
            <a:avLst/>
          </a:prstGeom>
          <a:solidFill>
            <a:srgbClr val="183752"/>
          </a:solidFill>
          <a:ln w="12700">
            <a:solidFill>
              <a:srgbClr val="2F4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1719072"/>
            <a:ext cx="20574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DCF4F0"/>
                </a:solidFill>
                <a:latin typeface="Aptos"/>
              </a:defRPr>
            </a:pPr>
            <a:r>
              <a:t>5 GATES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331720"/>
            <a:ext cx="384048" cy="310896"/>
          </a:xfrm>
          <a:prstGeom prst="roundRect">
            <a:avLst/>
          </a:prstGeom>
          <a:solidFill>
            <a:srgbClr val="268A5B"/>
          </a:solidFill>
          <a:ln>
            <a:solidFill>
              <a:srgbClr val="26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2340863"/>
            <a:ext cx="38404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2331720"/>
            <a:ext cx="1508760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FFFFF"/>
                </a:solidFill>
                <a:latin typeface="Aptos"/>
              </a:defRPr>
            </a:pPr>
            <a:r>
              <a:t>Core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2898648"/>
            <a:ext cx="384048" cy="310896"/>
          </a:xfrm>
          <a:prstGeom prst="roundRect">
            <a:avLst/>
          </a:prstGeom>
          <a:solidFill>
            <a:srgbClr val="268A5B"/>
          </a:solidFill>
          <a:ln>
            <a:solidFill>
              <a:srgbClr val="26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2907791"/>
            <a:ext cx="38404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898648"/>
            <a:ext cx="1508760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FFFFF"/>
                </a:solidFill>
                <a:latin typeface="Aptos"/>
              </a:defRPr>
            </a:pPr>
            <a:r>
              <a:t>Cadence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3465576"/>
            <a:ext cx="384048" cy="310896"/>
          </a:xfrm>
          <a:prstGeom prst="roundRect">
            <a:avLst/>
          </a:prstGeom>
          <a:solidFill>
            <a:srgbClr val="268A5B"/>
          </a:solidFill>
          <a:ln>
            <a:solidFill>
              <a:srgbClr val="26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3474720"/>
            <a:ext cx="38404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465576"/>
            <a:ext cx="1508760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FFFFF"/>
                </a:solidFill>
                <a:latin typeface="Aptos"/>
              </a:defRPr>
            </a:pPr>
            <a:r>
              <a:t>Metric + retention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4032504"/>
            <a:ext cx="384048" cy="310896"/>
          </a:xfrm>
          <a:prstGeom prst="roundRect">
            <a:avLst/>
          </a:prstGeom>
          <a:solidFill>
            <a:srgbClr val="268A5B"/>
          </a:solidFill>
          <a:ln>
            <a:solidFill>
              <a:srgbClr val="26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4041648"/>
            <a:ext cx="38404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4032504"/>
            <a:ext cx="1508760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FFFFF"/>
                </a:solidFill>
                <a:latin typeface="Aptos"/>
              </a:defRPr>
            </a:pPr>
            <a:r>
              <a:t>Loop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4599431"/>
            <a:ext cx="384048" cy="310896"/>
          </a:xfrm>
          <a:prstGeom prst="roundRect">
            <a:avLst/>
          </a:prstGeom>
          <a:solidFill>
            <a:srgbClr val="268A5B"/>
          </a:solidFill>
          <a:ln>
            <a:solidFill>
              <a:srgbClr val="26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4608575"/>
            <a:ext cx="38404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4599431"/>
            <a:ext cx="1508760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FFFFF"/>
                </a:solidFill>
                <a:latin typeface="Aptos"/>
              </a:defRPr>
            </a:pPr>
            <a:r>
              <a:t>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217920"/>
            <a:ext cx="3840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AFC9D7"/>
                </a:solidFill>
                <a:latin typeface="Aptos"/>
              </a:defRPr>
            </a:pPr>
            <a:r>
              <a:t>Lê Thị Linh · 2A202601441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Metrics Pack — P-005</dc:title>
  <dc:subject>Product Metrics Lab: từ Core Action tới Tracking</dc:subject>
  <dc:creator>Lê Thị Linh</dc:creator>
  <cp:keywords>core action, cadence, retention, NSM, product loop, tracking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